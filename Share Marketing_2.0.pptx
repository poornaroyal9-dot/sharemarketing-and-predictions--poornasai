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60" r:id="rId4"/>
    <p:sldId id="261" r:id="rId5"/>
    <p:sldId id="257" r:id="rId6"/>
    <p:sldId id="258"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A9B2C4-B6F2-4D0C-872A-65896DC3BB2C}" v="1" dt="2025-10-18T06:05:12.5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99" autoAdjust="0"/>
    <p:restoredTop sz="94660"/>
  </p:normalViewPr>
  <p:slideViewPr>
    <p:cSldViewPr snapToGrid="0">
      <p:cViewPr>
        <p:scale>
          <a:sx n="75" d="100"/>
          <a:sy n="75" d="100"/>
        </p:scale>
        <p:origin x="77"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06C43B0-AD8A-4E24-A9F0-4C4C1BD705F9}" type="datetimeFigureOut">
              <a:rPr lang="en-IN" smtClean="0"/>
              <a:t>18-10-2025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31B888-9C7D-4FD0-BB9F-C87446787F00}" type="slidenum">
              <a:rPr lang="en-IN" smtClean="0"/>
              <a:t>‹#›</a:t>
            </a:fld>
            <a:endParaRPr lang="en-IN"/>
          </a:p>
        </p:txBody>
      </p:sp>
    </p:spTree>
    <p:extLst>
      <p:ext uri="{BB962C8B-B14F-4D97-AF65-F5344CB8AC3E}">
        <p14:creationId xmlns:p14="http://schemas.microsoft.com/office/powerpoint/2010/main" val="1401036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6C43B0-AD8A-4E24-A9F0-4C4C1BD705F9}" type="datetimeFigureOut">
              <a:rPr lang="en-IN" smtClean="0"/>
              <a:t>18-10-2025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31B888-9C7D-4FD0-BB9F-C87446787F00}" type="slidenum">
              <a:rPr lang="en-IN" smtClean="0"/>
              <a:t>‹#›</a:t>
            </a:fld>
            <a:endParaRPr lang="en-IN"/>
          </a:p>
        </p:txBody>
      </p:sp>
    </p:spTree>
    <p:extLst>
      <p:ext uri="{BB962C8B-B14F-4D97-AF65-F5344CB8AC3E}">
        <p14:creationId xmlns:p14="http://schemas.microsoft.com/office/powerpoint/2010/main" val="36027819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6C43B0-AD8A-4E24-A9F0-4C4C1BD705F9}" type="datetimeFigureOut">
              <a:rPr lang="en-IN" smtClean="0"/>
              <a:t>18-10-2025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31B888-9C7D-4FD0-BB9F-C87446787F00}" type="slidenum">
              <a:rPr lang="en-IN" smtClean="0"/>
              <a:t>‹#›</a:t>
            </a:fld>
            <a:endParaRPr lang="en-IN"/>
          </a:p>
        </p:txBody>
      </p:sp>
    </p:spTree>
    <p:extLst>
      <p:ext uri="{BB962C8B-B14F-4D97-AF65-F5344CB8AC3E}">
        <p14:creationId xmlns:p14="http://schemas.microsoft.com/office/powerpoint/2010/main" val="886838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06C43B0-AD8A-4E24-A9F0-4C4C1BD705F9}" type="datetimeFigureOut">
              <a:rPr lang="en-IN" smtClean="0"/>
              <a:t>18-10-2025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31B888-9C7D-4FD0-BB9F-C87446787F00}" type="slidenum">
              <a:rPr lang="en-IN" smtClean="0"/>
              <a:t>‹#›</a:t>
            </a:fld>
            <a:endParaRPr lang="en-IN"/>
          </a:p>
        </p:txBody>
      </p:sp>
    </p:spTree>
    <p:extLst>
      <p:ext uri="{BB962C8B-B14F-4D97-AF65-F5344CB8AC3E}">
        <p14:creationId xmlns:p14="http://schemas.microsoft.com/office/powerpoint/2010/main" val="1486732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06C43B0-AD8A-4E24-A9F0-4C4C1BD705F9}" type="datetimeFigureOut">
              <a:rPr lang="en-IN" smtClean="0"/>
              <a:t>18-10-2025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E31B888-9C7D-4FD0-BB9F-C87446787F00}" type="slidenum">
              <a:rPr lang="en-IN" smtClean="0"/>
              <a:t>‹#›</a:t>
            </a:fld>
            <a:endParaRPr lang="en-IN"/>
          </a:p>
        </p:txBody>
      </p:sp>
    </p:spTree>
    <p:extLst>
      <p:ext uri="{BB962C8B-B14F-4D97-AF65-F5344CB8AC3E}">
        <p14:creationId xmlns:p14="http://schemas.microsoft.com/office/powerpoint/2010/main" val="37660812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06C43B0-AD8A-4E24-A9F0-4C4C1BD705F9}" type="datetimeFigureOut">
              <a:rPr lang="en-IN" smtClean="0"/>
              <a:t>18-10-2025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E31B888-9C7D-4FD0-BB9F-C87446787F00}" type="slidenum">
              <a:rPr lang="en-IN" smtClean="0"/>
              <a:t>‹#›</a:t>
            </a:fld>
            <a:endParaRPr lang="en-IN"/>
          </a:p>
        </p:txBody>
      </p:sp>
    </p:spTree>
    <p:extLst>
      <p:ext uri="{BB962C8B-B14F-4D97-AF65-F5344CB8AC3E}">
        <p14:creationId xmlns:p14="http://schemas.microsoft.com/office/powerpoint/2010/main" val="4233207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6C43B0-AD8A-4E24-A9F0-4C4C1BD705F9}" type="datetimeFigureOut">
              <a:rPr lang="en-IN" smtClean="0"/>
              <a:t>18-10-2025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E31B888-9C7D-4FD0-BB9F-C87446787F00}" type="slidenum">
              <a:rPr lang="en-IN" smtClean="0"/>
              <a:t>‹#›</a:t>
            </a:fld>
            <a:endParaRPr lang="en-IN"/>
          </a:p>
        </p:txBody>
      </p:sp>
    </p:spTree>
    <p:extLst>
      <p:ext uri="{BB962C8B-B14F-4D97-AF65-F5344CB8AC3E}">
        <p14:creationId xmlns:p14="http://schemas.microsoft.com/office/powerpoint/2010/main" val="2937181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06C43B0-AD8A-4E24-A9F0-4C4C1BD705F9}" type="datetimeFigureOut">
              <a:rPr lang="en-IN" smtClean="0"/>
              <a:t>18-10-2025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31B888-9C7D-4FD0-BB9F-C87446787F00}" type="slidenum">
              <a:rPr lang="en-IN" smtClean="0"/>
              <a:t>‹#›</a:t>
            </a:fld>
            <a:endParaRPr lang="en-IN"/>
          </a:p>
        </p:txBody>
      </p:sp>
    </p:spTree>
    <p:extLst>
      <p:ext uri="{BB962C8B-B14F-4D97-AF65-F5344CB8AC3E}">
        <p14:creationId xmlns:p14="http://schemas.microsoft.com/office/powerpoint/2010/main" val="1265716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06C43B0-AD8A-4E24-A9F0-4C4C1BD705F9}" type="datetimeFigureOut">
              <a:rPr lang="en-IN" smtClean="0"/>
              <a:t>18-10-2025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31B888-9C7D-4FD0-BB9F-C87446787F00}" type="slidenum">
              <a:rPr lang="en-IN" smtClean="0"/>
              <a:t>‹#›</a:t>
            </a:fld>
            <a:endParaRPr lang="en-IN"/>
          </a:p>
        </p:txBody>
      </p:sp>
    </p:spTree>
    <p:extLst>
      <p:ext uri="{BB962C8B-B14F-4D97-AF65-F5344CB8AC3E}">
        <p14:creationId xmlns:p14="http://schemas.microsoft.com/office/powerpoint/2010/main" val="36184041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6C43B0-AD8A-4E24-A9F0-4C4C1BD705F9}" type="datetimeFigureOut">
              <a:rPr lang="en-IN" smtClean="0"/>
              <a:t>18-10-2025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31B888-9C7D-4FD0-BB9F-C87446787F00}" type="slidenum">
              <a:rPr lang="en-IN" smtClean="0"/>
              <a:t>‹#›</a:t>
            </a:fld>
            <a:endParaRPr lang="en-IN"/>
          </a:p>
        </p:txBody>
      </p:sp>
    </p:spTree>
    <p:extLst>
      <p:ext uri="{BB962C8B-B14F-4D97-AF65-F5344CB8AC3E}">
        <p14:creationId xmlns:p14="http://schemas.microsoft.com/office/powerpoint/2010/main" val="2377929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6C43B0-AD8A-4E24-A9F0-4C4C1BD705F9}" type="datetimeFigureOut">
              <a:rPr lang="en-IN" smtClean="0"/>
              <a:t>18-10-2025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31B888-9C7D-4FD0-BB9F-C87446787F00}"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6143725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6C43B0-AD8A-4E24-A9F0-4C4C1BD705F9}" type="datetimeFigureOut">
              <a:rPr lang="en-IN" smtClean="0"/>
              <a:t>18-10-2025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31B888-9C7D-4FD0-BB9F-C87446787F00}" type="slidenum">
              <a:rPr lang="en-IN" smtClean="0"/>
              <a:t>‹#›</a:t>
            </a:fld>
            <a:endParaRPr lang="en-IN"/>
          </a:p>
        </p:txBody>
      </p:sp>
    </p:spTree>
    <p:extLst>
      <p:ext uri="{BB962C8B-B14F-4D97-AF65-F5344CB8AC3E}">
        <p14:creationId xmlns:p14="http://schemas.microsoft.com/office/powerpoint/2010/main" val="34076348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6C43B0-AD8A-4E24-A9F0-4C4C1BD705F9}" type="datetimeFigureOut">
              <a:rPr lang="en-IN" smtClean="0"/>
              <a:t>18-10-2025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31B888-9C7D-4FD0-BB9F-C87446787F00}"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533763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6C43B0-AD8A-4E24-A9F0-4C4C1BD705F9}" type="datetimeFigureOut">
              <a:rPr lang="en-IN" smtClean="0"/>
              <a:t>18-10-2025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31B888-9C7D-4FD0-BB9F-C87446787F00}" type="slidenum">
              <a:rPr lang="en-IN" smtClean="0"/>
              <a:t>‹#›</a:t>
            </a:fld>
            <a:endParaRPr lang="en-IN"/>
          </a:p>
        </p:txBody>
      </p:sp>
    </p:spTree>
    <p:extLst>
      <p:ext uri="{BB962C8B-B14F-4D97-AF65-F5344CB8AC3E}">
        <p14:creationId xmlns:p14="http://schemas.microsoft.com/office/powerpoint/2010/main" val="36258381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6C43B0-AD8A-4E24-A9F0-4C4C1BD705F9}" type="datetimeFigureOut">
              <a:rPr lang="en-IN" smtClean="0"/>
              <a:t>18-10-2025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31B888-9C7D-4FD0-BB9F-C87446787F00}" type="slidenum">
              <a:rPr lang="en-IN" smtClean="0"/>
              <a:t>‹#›</a:t>
            </a:fld>
            <a:endParaRPr lang="en-IN"/>
          </a:p>
        </p:txBody>
      </p:sp>
    </p:spTree>
    <p:extLst>
      <p:ext uri="{BB962C8B-B14F-4D97-AF65-F5344CB8AC3E}">
        <p14:creationId xmlns:p14="http://schemas.microsoft.com/office/powerpoint/2010/main" val="3265041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6C43B0-AD8A-4E24-A9F0-4C4C1BD705F9}" type="datetimeFigureOut">
              <a:rPr lang="en-IN" smtClean="0"/>
              <a:t>18-10-2025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31B888-9C7D-4FD0-BB9F-C87446787F00}" type="slidenum">
              <a:rPr lang="en-IN" smtClean="0"/>
              <a:t>‹#›</a:t>
            </a:fld>
            <a:endParaRPr lang="en-IN"/>
          </a:p>
        </p:txBody>
      </p:sp>
    </p:spTree>
    <p:extLst>
      <p:ext uri="{BB962C8B-B14F-4D97-AF65-F5344CB8AC3E}">
        <p14:creationId xmlns:p14="http://schemas.microsoft.com/office/powerpoint/2010/main" val="348854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06C43B0-AD8A-4E24-A9F0-4C4C1BD705F9}" type="datetimeFigureOut">
              <a:rPr lang="en-IN" smtClean="0"/>
              <a:t>18-10-2025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E31B888-9C7D-4FD0-BB9F-C87446787F00}" type="slidenum">
              <a:rPr lang="en-IN" smtClean="0"/>
              <a:t>‹#›</a:t>
            </a:fld>
            <a:endParaRPr lang="en-IN"/>
          </a:p>
        </p:txBody>
      </p:sp>
    </p:spTree>
    <p:extLst>
      <p:ext uri="{BB962C8B-B14F-4D97-AF65-F5344CB8AC3E}">
        <p14:creationId xmlns:p14="http://schemas.microsoft.com/office/powerpoint/2010/main" val="2957411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hyperlink" Target="https://researchleap.com/examination-relationship-volatility-expected-returns-brvm-stock-market/" TargetMode="External"/><Relationship Id="rId2" Type="http://schemas.openxmlformats.org/officeDocument/2006/relationships/image" Target="../media/image4.jpg"/><Relationship Id="rId1" Type="http://schemas.openxmlformats.org/officeDocument/2006/relationships/slideLayout" Target="../slideLayouts/slideLayout9.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hyperlink" Target="https://truthblaze7.tistory.com/112" TargetMode="External"/><Relationship Id="rId7" Type="http://schemas.openxmlformats.org/officeDocument/2006/relationships/image" Target="../media/image7.jpe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hyperlink" Target="https://www.milleunovetrine.it/accedere-a-chatgpt-dallitalia-gratis-con-e-senza-vpn/" TargetMode="Externa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hyperlink" Target="https://peerj.com/articles/cs-476/"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4B105F-21B3-9845-20C4-31BF6270472B}"/>
              </a:ext>
            </a:extLst>
          </p:cNvPr>
          <p:cNvSpPr>
            <a:spLocks noGrp="1"/>
          </p:cNvSpPr>
          <p:nvPr>
            <p:ph type="title"/>
          </p:nvPr>
        </p:nvSpPr>
        <p:spPr>
          <a:xfrm>
            <a:off x="1847757" y="427381"/>
            <a:ext cx="7644112" cy="1113181"/>
          </a:xfrm>
        </p:spPr>
        <p:txBody>
          <a:bodyPr>
            <a:normAutofit/>
          </a:bodyPr>
          <a:lstStyle/>
          <a:p>
            <a:pPr algn="ctr"/>
            <a:r>
              <a:rPr lang="en-US" sz="6600" dirty="0">
                <a:solidFill>
                  <a:schemeClr val="accent4">
                    <a:lumMod val="75000"/>
                  </a:schemeClr>
                </a:solidFill>
                <a:latin typeface="Algerian" panose="04020705040A02060702" pitchFamily="82" charset="0"/>
              </a:rPr>
              <a:t>INTRODUCTION</a:t>
            </a:r>
            <a:endParaRPr lang="en-IN" sz="6600" dirty="0">
              <a:solidFill>
                <a:schemeClr val="accent4">
                  <a:lumMod val="75000"/>
                </a:schemeClr>
              </a:solidFill>
              <a:latin typeface="Algerian" panose="04020705040A02060702" pitchFamily="82" charset="0"/>
            </a:endParaRPr>
          </a:p>
        </p:txBody>
      </p:sp>
      <p:pic>
        <p:nvPicPr>
          <p:cNvPr id="7" name="Content Placeholder 6" descr="A logo for a company&#10;&#10;AI-generated content may be incorrect.">
            <a:extLst>
              <a:ext uri="{FF2B5EF4-FFF2-40B4-BE49-F238E27FC236}">
                <a16:creationId xmlns:a16="http://schemas.microsoft.com/office/drawing/2014/main" id="{3109F3E4-462D-5C81-E71E-221EFD469E5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9512" y="0"/>
            <a:ext cx="2620619" cy="2091949"/>
          </a:xfrm>
        </p:spPr>
      </p:pic>
      <p:sp>
        <p:nvSpPr>
          <p:cNvPr id="9" name="TextBox 8">
            <a:extLst>
              <a:ext uri="{FF2B5EF4-FFF2-40B4-BE49-F238E27FC236}">
                <a16:creationId xmlns:a16="http://schemas.microsoft.com/office/drawing/2014/main" id="{575CAA1D-EB23-652E-0059-00CC4F1E78E6}"/>
              </a:ext>
            </a:extLst>
          </p:cNvPr>
          <p:cNvSpPr txBox="1"/>
          <p:nvPr/>
        </p:nvSpPr>
        <p:spPr>
          <a:xfrm>
            <a:off x="2050774" y="2091949"/>
            <a:ext cx="8090451" cy="5436681"/>
          </a:xfrm>
          <a:prstGeom prst="rect">
            <a:avLst/>
          </a:prstGeom>
          <a:noFill/>
        </p:spPr>
        <p:txBody>
          <a:bodyPr wrap="square">
            <a:spAutoFit/>
          </a:bodyPr>
          <a:lstStyle/>
          <a:p>
            <a:pPr>
              <a:lnSpc>
                <a:spcPct val="107000"/>
              </a:lnSpc>
              <a:spcAft>
                <a:spcPts val="800"/>
              </a:spcAft>
              <a:buNone/>
            </a:pPr>
            <a:r>
              <a:rPr lang="en-IN" sz="2800" b="1" kern="100" dirty="0">
                <a:effectLst/>
                <a:latin typeface="Calibri" panose="020F0502020204030204" pitchFamily="34" charset="0"/>
                <a:ea typeface="Calibri" panose="020F0502020204030204" pitchFamily="34" charset="0"/>
                <a:cs typeface="Cordia New" panose="020B0304020202020204" pitchFamily="34" charset="-34"/>
              </a:rPr>
              <a:t>Title of Project:</a:t>
            </a:r>
            <a:r>
              <a:rPr lang="en-IN" sz="2800" kern="100" dirty="0">
                <a:effectLst/>
                <a:latin typeface="Calibri" panose="020F0502020204030204" pitchFamily="34" charset="0"/>
                <a:ea typeface="Calibri" panose="020F0502020204030204" pitchFamily="34" charset="0"/>
                <a:cs typeface="Cordia New" panose="020B0304020202020204" pitchFamily="34" charset="-34"/>
              </a:rPr>
              <a:t> </a:t>
            </a:r>
            <a:r>
              <a:rPr lang="en-IN" sz="2800" b="1" kern="100" dirty="0">
                <a:solidFill>
                  <a:schemeClr val="accent4">
                    <a:lumMod val="75000"/>
                  </a:schemeClr>
                </a:solidFill>
                <a:effectLst/>
                <a:latin typeface="Algerian" panose="04020705040A02060702" pitchFamily="82" charset="0"/>
                <a:ea typeface="Calibri" panose="020F0502020204030204" pitchFamily="34" charset="0"/>
                <a:cs typeface="Cordia New" panose="020B0304020202020204" pitchFamily="34" charset="-34"/>
              </a:rPr>
              <a:t>Share Marketing And Predictions</a:t>
            </a:r>
            <a:br>
              <a:rPr lang="en-IN" sz="2800" kern="100" dirty="0">
                <a:effectLst/>
                <a:latin typeface="Calibri" panose="020F0502020204030204" pitchFamily="34" charset="0"/>
                <a:ea typeface="Calibri" panose="020F0502020204030204" pitchFamily="34" charset="0"/>
                <a:cs typeface="Cordia New" panose="020B0304020202020204" pitchFamily="34" charset="-34"/>
              </a:rPr>
            </a:br>
            <a:r>
              <a:rPr lang="en-IN" sz="2800" b="1" kern="100" dirty="0">
                <a:effectLst/>
                <a:latin typeface="Calibri" panose="020F0502020204030204" pitchFamily="34" charset="0"/>
                <a:ea typeface="Calibri" panose="020F0502020204030204" pitchFamily="34" charset="0"/>
                <a:cs typeface="Cordia New" panose="020B0304020202020204" pitchFamily="34" charset="-34"/>
              </a:rPr>
              <a:t>Name of the Innovator:</a:t>
            </a:r>
            <a:r>
              <a:rPr lang="en-IN" sz="2800" kern="100" dirty="0">
                <a:effectLst/>
                <a:latin typeface="Calibri" panose="020F0502020204030204" pitchFamily="34" charset="0"/>
                <a:ea typeface="Calibri" panose="020F0502020204030204" pitchFamily="34" charset="0"/>
                <a:cs typeface="Cordia New" panose="020B0304020202020204" pitchFamily="34" charset="-34"/>
              </a:rPr>
              <a:t> Nithin Kamath And Deepak Shenoy</a:t>
            </a:r>
          </a:p>
          <a:p>
            <a:pPr>
              <a:lnSpc>
                <a:spcPct val="107000"/>
              </a:lnSpc>
              <a:spcAft>
                <a:spcPts val="800"/>
              </a:spcAft>
            </a:pPr>
            <a:r>
              <a:rPr lang="en-US" sz="2800" b="1" kern="100" dirty="0">
                <a:effectLst/>
                <a:latin typeface="Calibri" panose="020F0502020204030204" pitchFamily="34" charset="0"/>
                <a:ea typeface="Calibri" panose="020F0502020204030204" pitchFamily="34" charset="0"/>
                <a:cs typeface="Cordia New" panose="020B0304020202020204" pitchFamily="34" charset="-34"/>
              </a:rPr>
              <a:t>Individual/Team: Hype</a:t>
            </a:r>
            <a:br>
              <a:rPr lang="en-IN" sz="2800" kern="100" dirty="0">
                <a:effectLst/>
                <a:latin typeface="Calibri" panose="020F0502020204030204" pitchFamily="34" charset="0"/>
                <a:ea typeface="Calibri" panose="020F0502020204030204" pitchFamily="34" charset="0"/>
                <a:cs typeface="Cordia New" panose="020B0304020202020204" pitchFamily="34" charset="-34"/>
              </a:rPr>
            </a:br>
            <a:r>
              <a:rPr lang="en-US" sz="2800" b="1" kern="100" dirty="0">
                <a:latin typeface="Calibri" panose="020F0502020204030204" pitchFamily="34" charset="0"/>
                <a:ea typeface="Calibri" panose="020F0502020204030204" pitchFamily="34" charset="0"/>
                <a:cs typeface="Cordia New" panose="020B0304020202020204" pitchFamily="34" charset="-34"/>
              </a:rPr>
              <a:t>Team Size:5</a:t>
            </a:r>
            <a:endParaRPr lang="en-IN" sz="2800" kern="100" dirty="0">
              <a:latin typeface="Calibri" panose="020F0502020204030204" pitchFamily="34" charset="0"/>
              <a:ea typeface="Calibri" panose="020F0502020204030204" pitchFamily="34" charset="0"/>
              <a:cs typeface="Cordia New" panose="020B0304020202020204" pitchFamily="34" charset="-34"/>
            </a:endParaRPr>
          </a:p>
          <a:p>
            <a:pPr>
              <a:lnSpc>
                <a:spcPct val="107000"/>
              </a:lnSpc>
              <a:spcAft>
                <a:spcPts val="800"/>
              </a:spcAft>
            </a:pPr>
            <a:r>
              <a:rPr lang="en-US" sz="2800" b="1" kern="100" dirty="0">
                <a:latin typeface="Calibri" panose="020F0502020204030204" pitchFamily="34" charset="0"/>
                <a:ea typeface="Calibri" panose="020F0502020204030204" pitchFamily="34" charset="0"/>
                <a:cs typeface="Cordia New" panose="020B0304020202020204" pitchFamily="34" charset="-34"/>
              </a:rPr>
              <a:t>Team Leader: </a:t>
            </a:r>
            <a:r>
              <a:rPr lang="en-US" sz="2800" b="1" kern="100" dirty="0" err="1">
                <a:latin typeface="Calibri" panose="020F0502020204030204" pitchFamily="34" charset="0"/>
                <a:ea typeface="Calibri" panose="020F0502020204030204" pitchFamily="34" charset="0"/>
                <a:cs typeface="Cordia New" panose="020B0304020202020204" pitchFamily="34" charset="-34"/>
              </a:rPr>
              <a:t>N.Poorna</a:t>
            </a:r>
            <a:r>
              <a:rPr lang="en-US" sz="2800" b="1" kern="100" dirty="0">
                <a:latin typeface="Calibri" panose="020F0502020204030204" pitchFamily="34" charset="0"/>
                <a:ea typeface="Calibri" panose="020F0502020204030204" pitchFamily="34" charset="0"/>
                <a:cs typeface="Cordia New" panose="020B0304020202020204" pitchFamily="34" charset="-34"/>
              </a:rPr>
              <a:t> </a:t>
            </a:r>
            <a:r>
              <a:rPr lang="en-US" sz="2800" b="1" kern="100" dirty="0" err="1">
                <a:latin typeface="Calibri" panose="020F0502020204030204" pitchFamily="34" charset="0"/>
                <a:ea typeface="Calibri" panose="020F0502020204030204" pitchFamily="34" charset="0"/>
                <a:cs typeface="Cordia New" panose="020B0304020202020204" pitchFamily="34" charset="-34"/>
              </a:rPr>
              <a:t>sai</a:t>
            </a:r>
            <a:r>
              <a:rPr lang="en-US" sz="2800" b="1" kern="100" dirty="0">
                <a:latin typeface="Calibri" panose="020F0502020204030204" pitchFamily="34" charset="0"/>
                <a:ea typeface="Calibri" panose="020F0502020204030204" pitchFamily="34" charset="0"/>
                <a:cs typeface="Cordia New" panose="020B0304020202020204" pitchFamily="34" charset="-34"/>
              </a:rPr>
              <a:t> </a:t>
            </a:r>
          </a:p>
          <a:p>
            <a:pPr>
              <a:lnSpc>
                <a:spcPct val="107000"/>
              </a:lnSpc>
              <a:spcAft>
                <a:spcPts val="800"/>
              </a:spcAft>
            </a:pPr>
            <a:r>
              <a:rPr lang="en-US" sz="2800" b="1" kern="100" dirty="0">
                <a:latin typeface="Calibri" panose="020F0502020204030204" pitchFamily="34" charset="0"/>
                <a:ea typeface="Calibri" panose="020F0502020204030204" pitchFamily="34" charset="0"/>
                <a:cs typeface="Cordia New" panose="020B0304020202020204" pitchFamily="34" charset="-34"/>
              </a:rPr>
              <a:t>Team Members: </a:t>
            </a:r>
            <a:r>
              <a:rPr lang="en-US" sz="2000" b="1" kern="100" dirty="0" err="1">
                <a:latin typeface="Calibri" panose="020F0502020204030204" pitchFamily="34" charset="0"/>
                <a:ea typeface="Calibri" panose="020F0502020204030204" pitchFamily="34" charset="0"/>
                <a:cs typeface="Cordia New" panose="020B0304020202020204" pitchFamily="34" charset="-34"/>
              </a:rPr>
              <a:t>S.Pradeep,N.Sai</a:t>
            </a:r>
            <a:r>
              <a:rPr lang="en-US" sz="2000" b="1" kern="100" dirty="0">
                <a:latin typeface="Calibri" panose="020F0502020204030204" pitchFamily="34" charset="0"/>
                <a:ea typeface="Calibri" panose="020F0502020204030204" pitchFamily="34" charset="0"/>
                <a:cs typeface="Cordia New" panose="020B0304020202020204" pitchFamily="34" charset="-34"/>
              </a:rPr>
              <a:t> </a:t>
            </a:r>
            <a:r>
              <a:rPr lang="en-US" sz="2000" b="1" kern="100" dirty="0" err="1">
                <a:latin typeface="Calibri" panose="020F0502020204030204" pitchFamily="34" charset="0"/>
                <a:ea typeface="Calibri" panose="020F0502020204030204" pitchFamily="34" charset="0"/>
                <a:cs typeface="Cordia New" panose="020B0304020202020204" pitchFamily="34" charset="-34"/>
              </a:rPr>
              <a:t>kiran,N.Tharun,P.Nithesh</a:t>
            </a:r>
            <a:endParaRPr lang="en-IN" sz="2000" kern="100" dirty="0">
              <a:latin typeface="Calibri" panose="020F0502020204030204" pitchFamily="34" charset="0"/>
              <a:ea typeface="Calibri" panose="020F0502020204030204" pitchFamily="34" charset="0"/>
              <a:cs typeface="Cordia New" panose="020B0304020202020204" pitchFamily="34" charset="-34"/>
            </a:endParaRPr>
          </a:p>
          <a:p>
            <a:pPr>
              <a:lnSpc>
                <a:spcPct val="107000"/>
              </a:lnSpc>
              <a:spcAft>
                <a:spcPts val="800"/>
              </a:spcAft>
              <a:buNone/>
            </a:pPr>
            <a:endParaRPr lang="en-IN" sz="2800" b="1" kern="100" dirty="0">
              <a:latin typeface="Calibri" panose="020F0502020204030204" pitchFamily="34" charset="0"/>
              <a:ea typeface="Calibri" panose="020F0502020204030204" pitchFamily="34" charset="0"/>
              <a:cs typeface="Cordia New" panose="020B0304020202020204" pitchFamily="34" charset="-34"/>
            </a:endParaRPr>
          </a:p>
          <a:p>
            <a:pPr>
              <a:lnSpc>
                <a:spcPct val="107000"/>
              </a:lnSpc>
              <a:spcAft>
                <a:spcPts val="800"/>
              </a:spcAft>
              <a:buNone/>
            </a:pPr>
            <a:endParaRPr lang="en-IN" sz="1800" b="1" kern="100" dirty="0">
              <a:effectLst/>
              <a:latin typeface="Calibri" panose="020F0502020204030204" pitchFamily="34" charset="0"/>
              <a:ea typeface="Calibri" panose="020F0502020204030204" pitchFamily="34" charset="0"/>
              <a:cs typeface="Cordia New" panose="020B0304020202020204" pitchFamily="34" charset="-34"/>
            </a:endParaRPr>
          </a:p>
          <a:p>
            <a:pPr>
              <a:lnSpc>
                <a:spcPct val="107000"/>
              </a:lnSpc>
              <a:spcAft>
                <a:spcPts val="800"/>
              </a:spcAft>
              <a:buNone/>
            </a:pPr>
            <a:endParaRPr lang="en-IN" sz="1800" kern="100" dirty="0">
              <a:effectLst/>
              <a:latin typeface="Calibri" panose="020F0502020204030204" pitchFamily="34" charset="0"/>
              <a:ea typeface="Calibri" panose="020F0502020204030204" pitchFamily="34" charset="0"/>
              <a:cs typeface="Cordia New" panose="020B0304020202020204" pitchFamily="34" charset="-34"/>
            </a:endParaRPr>
          </a:p>
        </p:txBody>
      </p:sp>
    </p:spTree>
    <p:extLst>
      <p:ext uri="{BB962C8B-B14F-4D97-AF65-F5344CB8AC3E}">
        <p14:creationId xmlns:p14="http://schemas.microsoft.com/office/powerpoint/2010/main" val="382712845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BAD47-7B61-D506-9B77-C205A4D53093}"/>
              </a:ext>
            </a:extLst>
          </p:cNvPr>
          <p:cNvSpPr>
            <a:spLocks noGrp="1"/>
          </p:cNvSpPr>
          <p:nvPr>
            <p:ph type="title"/>
          </p:nvPr>
        </p:nvSpPr>
        <p:spPr>
          <a:xfrm>
            <a:off x="536714" y="1381539"/>
            <a:ext cx="3776869" cy="1610139"/>
          </a:xfrm>
        </p:spPr>
        <p:txBody>
          <a:bodyPr>
            <a:noAutofit/>
          </a:bodyPr>
          <a:lstStyle/>
          <a:p>
            <a:pPr marL="457200" indent="-457200" algn="ctr">
              <a:buFont typeface="Wingdings" panose="05000000000000000000" pitchFamily="2" charset="2"/>
              <a:buChar char="v"/>
            </a:pPr>
            <a:r>
              <a:rPr lang="en-US" sz="4000" i="1" dirty="0">
                <a:solidFill>
                  <a:srgbClr val="FF0000"/>
                </a:solidFill>
                <a:latin typeface="Algerian" panose="04020705040A02060702" pitchFamily="82" charset="0"/>
              </a:rPr>
              <a:t>Share Marketing And Predictions</a:t>
            </a:r>
            <a:endParaRPr lang="en-IN" sz="4000" i="1" dirty="0">
              <a:solidFill>
                <a:srgbClr val="FF0000"/>
              </a:solidFill>
              <a:latin typeface="Algerian" panose="04020705040A02060702" pitchFamily="82" charset="0"/>
            </a:endParaRPr>
          </a:p>
        </p:txBody>
      </p:sp>
      <p:pic>
        <p:nvPicPr>
          <p:cNvPr id="6" name="Picture Placeholder 5">
            <a:extLst>
              <a:ext uri="{FF2B5EF4-FFF2-40B4-BE49-F238E27FC236}">
                <a16:creationId xmlns:a16="http://schemas.microsoft.com/office/drawing/2014/main" id="{A027550A-5149-E7CB-481D-56EE9DA2866A}"/>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10520" b="10520"/>
          <a:stretch>
            <a:fillRect/>
          </a:stretch>
        </p:blipFill>
        <p:spPr>
          <a:xfrm>
            <a:off x="5075279" y="457200"/>
            <a:ext cx="6853756" cy="5411788"/>
          </a:xfrm>
        </p:spPr>
      </p:pic>
      <p:sp>
        <p:nvSpPr>
          <p:cNvPr id="4" name="Text Placeholder 3">
            <a:extLst>
              <a:ext uri="{FF2B5EF4-FFF2-40B4-BE49-F238E27FC236}">
                <a16:creationId xmlns:a16="http://schemas.microsoft.com/office/drawing/2014/main" id="{80510922-9D64-06D3-D26B-AFA0022D6564}"/>
              </a:ext>
            </a:extLst>
          </p:cNvPr>
          <p:cNvSpPr>
            <a:spLocks noGrp="1"/>
          </p:cNvSpPr>
          <p:nvPr>
            <p:ph type="body" sz="half" idx="2"/>
          </p:nvPr>
        </p:nvSpPr>
        <p:spPr>
          <a:xfrm>
            <a:off x="631066" y="3498574"/>
            <a:ext cx="4140959" cy="3110948"/>
          </a:xfrm>
        </p:spPr>
        <p:txBody>
          <a:bodyPr>
            <a:normAutofit fontScale="55000" lnSpcReduction="20000"/>
          </a:bodyPr>
          <a:lstStyle/>
          <a:p>
            <a:pPr algn="ctr"/>
            <a:r>
              <a:rPr lang="en-US" sz="3200" b="1" dirty="0">
                <a:latin typeface="Algerian" panose="04020705040A02060702" pitchFamily="82" charset="0"/>
              </a:rPr>
              <a:t>🧠 What Is Share Marketing And Predictions?</a:t>
            </a:r>
          </a:p>
          <a:p>
            <a:pPr algn="ctr"/>
            <a:endParaRPr lang="en-US" b="1" dirty="0">
              <a:latin typeface="Arial Rounded MT Bold" panose="020F0704030504030204" pitchFamily="34" charset="0"/>
            </a:endParaRPr>
          </a:p>
          <a:p>
            <a:pPr marL="285750" indent="-285750">
              <a:buFont typeface="Wingdings" panose="05000000000000000000" pitchFamily="2" charset="2"/>
              <a:buChar char="Ø"/>
            </a:pPr>
            <a:r>
              <a:rPr lang="en-US" sz="3000" b="1" dirty="0">
                <a:latin typeface="Arial Rounded MT Bold" panose="020F0704030504030204" pitchFamily="34" charset="0"/>
              </a:rPr>
              <a:t>Share marketing</a:t>
            </a:r>
            <a:r>
              <a:rPr lang="en-US" sz="3000" dirty="0">
                <a:latin typeface="Arial Rounded MT Bold" panose="020F0704030504030204" pitchFamily="34" charset="0"/>
              </a:rPr>
              <a:t>, also known as </a:t>
            </a:r>
            <a:r>
              <a:rPr lang="en-US" sz="3000" b="1" dirty="0">
                <a:latin typeface="Arial Rounded MT Bold" panose="020F0704030504030204" pitchFamily="34" charset="0"/>
              </a:rPr>
              <a:t>stock market investing</a:t>
            </a:r>
            <a:r>
              <a:rPr lang="en-US" sz="3000" dirty="0">
                <a:latin typeface="Arial Rounded MT Bold" panose="020F0704030504030204" pitchFamily="34" charset="0"/>
              </a:rPr>
              <a:t>, involves trading shares of publicly listed companies. When you buy a share, you own a small portion of that company. The market operates through exchanges like the </a:t>
            </a:r>
            <a:r>
              <a:rPr lang="en-US" sz="3000" b="1" dirty="0">
                <a:latin typeface="Arial Rounded MT Bold" panose="020F0704030504030204" pitchFamily="34" charset="0"/>
              </a:rPr>
              <a:t>NSE (National Stock Exchange)</a:t>
            </a:r>
            <a:r>
              <a:rPr lang="en-US" sz="3000" dirty="0">
                <a:latin typeface="Arial Rounded MT Bold" panose="020F0704030504030204" pitchFamily="34" charset="0"/>
              </a:rPr>
              <a:t> and </a:t>
            </a:r>
            <a:r>
              <a:rPr lang="en-US" sz="3000" b="1" dirty="0">
                <a:latin typeface="Arial Rounded MT Bold" panose="020F0704030504030204" pitchFamily="34" charset="0"/>
              </a:rPr>
              <a:t>BSE (Bombay Stock Exchange)</a:t>
            </a:r>
            <a:r>
              <a:rPr lang="en-US" sz="3000" dirty="0">
                <a:latin typeface="Arial Rounded MT Bold" panose="020F0704030504030204" pitchFamily="34" charset="0"/>
              </a:rPr>
              <a:t> in India</a:t>
            </a:r>
          </a:p>
          <a:p>
            <a:endParaRPr lang="en-IN" dirty="0">
              <a:latin typeface="Arial Rounded MT Bold" panose="020F0704030504030204" pitchFamily="34" charset="0"/>
            </a:endParaRPr>
          </a:p>
        </p:txBody>
      </p:sp>
      <p:pic>
        <p:nvPicPr>
          <p:cNvPr id="12" name="Picture 11">
            <a:extLst>
              <a:ext uri="{FF2B5EF4-FFF2-40B4-BE49-F238E27FC236}">
                <a16:creationId xmlns:a16="http://schemas.microsoft.com/office/drawing/2014/main" id="{E50FDB6C-D8D6-0085-1CA9-9EB3FFC296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696" y="1"/>
            <a:ext cx="1212574" cy="1212574"/>
          </a:xfrm>
          <a:prstGeom prst="rect">
            <a:avLst/>
          </a:prstGeom>
        </p:spPr>
      </p:pic>
    </p:spTree>
    <p:extLst>
      <p:ext uri="{BB962C8B-B14F-4D97-AF65-F5344CB8AC3E}">
        <p14:creationId xmlns:p14="http://schemas.microsoft.com/office/powerpoint/2010/main" val="42411412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6E1D6-708C-A6A9-E082-84D2F089EC2D}"/>
              </a:ext>
            </a:extLst>
          </p:cNvPr>
          <p:cNvSpPr>
            <a:spLocks noGrp="1"/>
          </p:cNvSpPr>
          <p:nvPr>
            <p:ph type="title"/>
          </p:nvPr>
        </p:nvSpPr>
        <p:spPr>
          <a:xfrm>
            <a:off x="686028" y="630238"/>
            <a:ext cx="3965713" cy="1779103"/>
          </a:xfrm>
        </p:spPr>
        <p:txBody>
          <a:bodyPr>
            <a:normAutofit/>
          </a:bodyPr>
          <a:lstStyle/>
          <a:p>
            <a:pPr algn="ctr"/>
            <a:r>
              <a:rPr lang="en-IN" b="1" dirty="0">
                <a:solidFill>
                  <a:srgbClr val="FF0000"/>
                </a:solidFill>
                <a:latin typeface="Algerian" panose="04020705040A02060702" pitchFamily="82" charset="0"/>
              </a:rPr>
              <a:t>ISSUE OF SHAREMARKETING AND PREDICTIONS</a:t>
            </a:r>
            <a:r>
              <a:rPr lang="en-IN" b="1" dirty="0"/>
              <a:t>:</a:t>
            </a:r>
            <a:br>
              <a:rPr lang="en-IN" dirty="0"/>
            </a:br>
            <a:endParaRPr lang="en-IN" dirty="0"/>
          </a:p>
        </p:txBody>
      </p:sp>
      <p:sp>
        <p:nvSpPr>
          <p:cNvPr id="4" name="Text Placeholder 3">
            <a:extLst>
              <a:ext uri="{FF2B5EF4-FFF2-40B4-BE49-F238E27FC236}">
                <a16:creationId xmlns:a16="http://schemas.microsoft.com/office/drawing/2014/main" id="{D6D1BAA4-006C-19DF-3DA2-7DE1B5612297}"/>
              </a:ext>
            </a:extLst>
          </p:cNvPr>
          <p:cNvSpPr>
            <a:spLocks noGrp="1"/>
          </p:cNvSpPr>
          <p:nvPr>
            <p:ph type="body" sz="half" idx="2"/>
          </p:nvPr>
        </p:nvSpPr>
        <p:spPr>
          <a:xfrm>
            <a:off x="417444" y="2295939"/>
            <a:ext cx="4354582" cy="4412973"/>
          </a:xfrm>
        </p:spPr>
        <p:txBody>
          <a:bodyPr>
            <a:normAutofit fontScale="92500" lnSpcReduction="10000"/>
          </a:bodyPr>
          <a:lstStyle/>
          <a:p>
            <a:pPr marL="457200" indent="-457200">
              <a:buFont typeface="Wingdings" panose="05000000000000000000" pitchFamily="2" charset="2"/>
              <a:buChar char="ü"/>
            </a:pPr>
            <a:r>
              <a:rPr lang="en-IN" sz="2550" b="1" dirty="0"/>
              <a:t>“Now Days Facing </a:t>
            </a:r>
            <a:r>
              <a:rPr lang="en-IN" sz="2550" b="1" dirty="0" err="1"/>
              <a:t>Sharemarketing</a:t>
            </a:r>
            <a:r>
              <a:rPr lang="en-IN" sz="2550" b="1" dirty="0"/>
              <a:t> And Predictions Are market volatility, human emotion/irrationality, the non-linear complexity of financial data, and the difficulty of obtaining consistently accurate predictions due to the Efficient Market Hypothesis (EMH).”</a:t>
            </a:r>
            <a:endParaRPr lang="en-IN" sz="2550" dirty="0"/>
          </a:p>
          <a:p>
            <a:pPr marL="285750" indent="-285750">
              <a:buFont typeface="Wingdings" panose="05000000000000000000" pitchFamily="2" charset="2"/>
              <a:buChar char="ü"/>
            </a:pPr>
            <a:endParaRPr lang="en-IN" dirty="0"/>
          </a:p>
        </p:txBody>
      </p:sp>
      <p:pic>
        <p:nvPicPr>
          <p:cNvPr id="12" name="Picture Placeholder 11">
            <a:extLst>
              <a:ext uri="{FF2B5EF4-FFF2-40B4-BE49-F238E27FC236}">
                <a16:creationId xmlns:a16="http://schemas.microsoft.com/office/drawing/2014/main" id="{63383496-9150-2E59-E2AE-35840450358F}"/>
              </a:ext>
              <a:ext uri="{C183D7F6-B498-43B3-948B-1728B52AA6E4}">
                <adec:decorative xmlns:adec="http://schemas.microsoft.com/office/drawing/2017/decorative" val="1"/>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8880" b="8880"/>
          <a:stretch>
            <a:fillRect/>
          </a:stretch>
        </p:blipFill>
        <p:spPr>
          <a:xfrm>
            <a:off x="4651741" y="621111"/>
            <a:ext cx="7392489" cy="5817704"/>
          </a:xfrm>
        </p:spPr>
      </p:pic>
      <p:pic>
        <p:nvPicPr>
          <p:cNvPr id="14" name="Picture 13" descr="A logo for a company&#10;&#10;AI-generated content may be incorrect.">
            <a:extLst>
              <a:ext uri="{FF2B5EF4-FFF2-40B4-BE49-F238E27FC236}">
                <a16:creationId xmlns:a16="http://schemas.microsoft.com/office/drawing/2014/main" id="{37A98F01-BE31-6DCA-A47E-18322E4BA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75" y="0"/>
            <a:ext cx="1392721" cy="1242222"/>
          </a:xfrm>
          <a:prstGeom prst="rect">
            <a:avLst/>
          </a:prstGeom>
        </p:spPr>
      </p:pic>
    </p:spTree>
    <p:extLst>
      <p:ext uri="{BB962C8B-B14F-4D97-AF65-F5344CB8AC3E}">
        <p14:creationId xmlns:p14="http://schemas.microsoft.com/office/powerpoint/2010/main" val="4278802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F8BC5-91A1-C4FB-A50F-4BCFE02521A6}"/>
              </a:ext>
            </a:extLst>
          </p:cNvPr>
          <p:cNvSpPr>
            <a:spLocks noGrp="1"/>
          </p:cNvSpPr>
          <p:nvPr>
            <p:ph type="title"/>
          </p:nvPr>
        </p:nvSpPr>
        <p:spPr>
          <a:xfrm>
            <a:off x="636840" y="4658915"/>
            <a:ext cx="8596667" cy="566738"/>
          </a:xfrm>
        </p:spPr>
        <p:txBody>
          <a:bodyPr>
            <a:normAutofit fontScale="90000"/>
          </a:bodyPr>
          <a:lstStyle/>
          <a:p>
            <a:pPr marL="342900" indent="-342900">
              <a:buFont typeface="Wingdings" panose="05000000000000000000" pitchFamily="2" charset="2"/>
              <a:buChar char="Ø"/>
            </a:pPr>
            <a:r>
              <a:rPr lang="en-US" dirty="0">
                <a:solidFill>
                  <a:srgbClr val="00B050"/>
                </a:solidFill>
                <a:latin typeface="Algerian" panose="04020705040A02060702" pitchFamily="82" charset="0"/>
              </a:rPr>
              <a:t>What is Problem Of </a:t>
            </a:r>
            <a:r>
              <a:rPr lang="en-US" dirty="0" err="1">
                <a:solidFill>
                  <a:srgbClr val="00B050"/>
                </a:solidFill>
                <a:latin typeface="Algerian" panose="04020705040A02060702" pitchFamily="82" charset="0"/>
              </a:rPr>
              <a:t>Sharemarketing</a:t>
            </a:r>
            <a:r>
              <a:rPr lang="en-US" dirty="0">
                <a:solidFill>
                  <a:srgbClr val="00B050"/>
                </a:solidFill>
                <a:latin typeface="Algerian" panose="04020705040A02060702" pitchFamily="82" charset="0"/>
              </a:rPr>
              <a:t> And Predictions?</a:t>
            </a:r>
            <a:endParaRPr lang="en-IN" dirty="0">
              <a:solidFill>
                <a:srgbClr val="00B050"/>
              </a:solidFill>
              <a:latin typeface="Algerian" panose="04020705040A02060702" pitchFamily="82" charset="0"/>
            </a:endParaRPr>
          </a:p>
        </p:txBody>
      </p:sp>
      <p:pic>
        <p:nvPicPr>
          <p:cNvPr id="6" name="Picture Placeholder 5">
            <a:extLst>
              <a:ext uri="{FF2B5EF4-FFF2-40B4-BE49-F238E27FC236}">
                <a16:creationId xmlns:a16="http://schemas.microsoft.com/office/drawing/2014/main" id="{4EAD5A37-7380-5152-0DBB-59C19F0B69B6}"/>
              </a:ext>
              <a:ext uri="{C183D7F6-B498-43B3-948B-1728B52AA6E4}">
                <adec:decorative xmlns:adec="http://schemas.microsoft.com/office/drawing/2017/decorative" val="1"/>
              </a:ext>
            </a:extLst>
          </p:cNvPr>
          <p:cNvPicPr>
            <a:picLocks noGrp="1" noChangeAspect="1"/>
          </p:cNvPicPr>
          <p:nvPr>
            <p:ph type="pic"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4204" b="4204"/>
          <a:stretch>
            <a:fillRect/>
          </a:stretch>
        </p:blipFill>
        <p:spPr>
          <a:xfrm>
            <a:off x="2317290" y="260696"/>
            <a:ext cx="8596667" cy="4256535"/>
          </a:xfrm>
        </p:spPr>
      </p:pic>
      <p:sp>
        <p:nvSpPr>
          <p:cNvPr id="4" name="Text Placeholder 3">
            <a:extLst>
              <a:ext uri="{FF2B5EF4-FFF2-40B4-BE49-F238E27FC236}">
                <a16:creationId xmlns:a16="http://schemas.microsoft.com/office/drawing/2014/main" id="{E45E4056-B970-7915-8C35-058774D8438D}"/>
              </a:ext>
            </a:extLst>
          </p:cNvPr>
          <p:cNvSpPr>
            <a:spLocks noGrp="1"/>
          </p:cNvSpPr>
          <p:nvPr>
            <p:ph type="body" sz="half" idx="2"/>
          </p:nvPr>
        </p:nvSpPr>
        <p:spPr>
          <a:xfrm>
            <a:off x="596348" y="5367338"/>
            <a:ext cx="8677653" cy="1381332"/>
          </a:xfrm>
        </p:spPr>
        <p:txBody>
          <a:bodyPr/>
          <a:lstStyle/>
          <a:p>
            <a:r>
              <a:rPr lang="en-IN" sz="2000" b="1" dirty="0"/>
              <a:t>“I am ideating a solution for The core challenge in modern share marketing and prediction is the difficulty of forecasting prices accurately due to the combined forces of market volatility of Share marketing and Prediction</a:t>
            </a:r>
          </a:p>
          <a:p>
            <a:endParaRPr lang="en-IN" dirty="0"/>
          </a:p>
        </p:txBody>
      </p:sp>
      <p:pic>
        <p:nvPicPr>
          <p:cNvPr id="9" name="Picture 8" descr="A logo for a company&#10;&#10;AI-generated content may be incorrect.">
            <a:extLst>
              <a:ext uri="{FF2B5EF4-FFF2-40B4-BE49-F238E27FC236}">
                <a16:creationId xmlns:a16="http://schemas.microsoft.com/office/drawing/2014/main" id="{24E1455E-8DFC-3840-1961-6ED3B04DAC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513" y="0"/>
            <a:ext cx="1530626" cy="1530626"/>
          </a:xfrm>
          <a:prstGeom prst="rect">
            <a:avLst/>
          </a:prstGeom>
        </p:spPr>
      </p:pic>
    </p:spTree>
    <p:extLst>
      <p:ext uri="{BB962C8B-B14F-4D97-AF65-F5344CB8AC3E}">
        <p14:creationId xmlns:p14="http://schemas.microsoft.com/office/powerpoint/2010/main" val="3943426414"/>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857408B-E42C-EE26-B619-C670882D8943}"/>
              </a:ext>
            </a:extLst>
          </p:cNvPr>
          <p:cNvSpPr txBox="1"/>
          <p:nvPr/>
        </p:nvSpPr>
        <p:spPr>
          <a:xfrm>
            <a:off x="2226364" y="183729"/>
            <a:ext cx="6569765" cy="954107"/>
          </a:xfrm>
          <a:prstGeom prst="rect">
            <a:avLst/>
          </a:prstGeom>
          <a:noFill/>
        </p:spPr>
        <p:txBody>
          <a:bodyPr wrap="square">
            <a:spAutoFit/>
          </a:bodyPr>
          <a:lstStyle/>
          <a:p>
            <a:pPr marL="457200" indent="-457200">
              <a:buFont typeface="Wingdings" panose="05000000000000000000" pitchFamily="2" charset="2"/>
              <a:buChar char="q"/>
            </a:pPr>
            <a:r>
              <a:rPr lang="en-US" sz="2800" dirty="0">
                <a:solidFill>
                  <a:schemeClr val="accent5"/>
                </a:solidFill>
                <a:latin typeface="Algerian" panose="04020705040A02060702" pitchFamily="82" charset="0"/>
              </a:rPr>
              <a:t>Using of AI Tools For Share Marketing And Predictions:</a:t>
            </a:r>
            <a:endParaRPr lang="en-IN" sz="2800" dirty="0">
              <a:solidFill>
                <a:schemeClr val="accent5"/>
              </a:solidFill>
              <a:latin typeface="Algerian" panose="04020705040A02060702" pitchFamily="82" charset="0"/>
            </a:endParaRPr>
          </a:p>
        </p:txBody>
      </p:sp>
      <p:pic>
        <p:nvPicPr>
          <p:cNvPr id="10" name="Picture 9" descr="A screenshot of a phone&#10;&#10;AI-generated content may be incorrect.">
            <a:extLst>
              <a:ext uri="{FF2B5EF4-FFF2-40B4-BE49-F238E27FC236}">
                <a16:creationId xmlns:a16="http://schemas.microsoft.com/office/drawing/2014/main" id="{2ACE2828-FC20-1B80-8A10-61B5984943A6}"/>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96957" y="1865661"/>
            <a:ext cx="4621696" cy="260631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3" name="Picture 12" descr="Close-up of a logo on a screen&#10;&#10;AI-generated content may be incorrect.">
            <a:extLst>
              <a:ext uri="{FF2B5EF4-FFF2-40B4-BE49-F238E27FC236}">
                <a16:creationId xmlns:a16="http://schemas.microsoft.com/office/drawing/2014/main" id="{01FA7FDB-F88A-3646-164E-EE7B72918CF7}"/>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5598492" y="1198701"/>
            <a:ext cx="3923195" cy="322811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6" name="Picture 15" descr="A logo for a company&#10;&#10;AI-generated content may be incorrect.">
            <a:extLst>
              <a:ext uri="{FF2B5EF4-FFF2-40B4-BE49-F238E27FC236}">
                <a16:creationId xmlns:a16="http://schemas.microsoft.com/office/drawing/2014/main" id="{5823341D-A0D2-0990-47AF-E5CE3EBEC9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 y="-182770"/>
            <a:ext cx="1951935" cy="1951935"/>
          </a:xfrm>
          <a:prstGeom prst="rect">
            <a:avLst/>
          </a:prstGeom>
        </p:spPr>
      </p:pic>
      <p:sp>
        <p:nvSpPr>
          <p:cNvPr id="18" name="TextBox 17">
            <a:extLst>
              <a:ext uri="{FF2B5EF4-FFF2-40B4-BE49-F238E27FC236}">
                <a16:creationId xmlns:a16="http://schemas.microsoft.com/office/drawing/2014/main" id="{FE62C1E9-12BF-C50A-5D2E-DA9969EB2353}"/>
              </a:ext>
            </a:extLst>
          </p:cNvPr>
          <p:cNvSpPr txBox="1"/>
          <p:nvPr/>
        </p:nvSpPr>
        <p:spPr>
          <a:xfrm>
            <a:off x="248478" y="4565616"/>
            <a:ext cx="6102626" cy="523220"/>
          </a:xfrm>
          <a:prstGeom prst="rect">
            <a:avLst/>
          </a:prstGeom>
          <a:noFill/>
        </p:spPr>
        <p:txBody>
          <a:bodyPr wrap="square">
            <a:spAutoFit/>
          </a:bodyPr>
          <a:lstStyle/>
          <a:p>
            <a:pPr marL="457200" indent="-457200">
              <a:buFont typeface="Wingdings" panose="05000000000000000000" pitchFamily="2" charset="2"/>
              <a:buChar char="ü"/>
            </a:pPr>
            <a:r>
              <a:rPr lang="en-US" sz="2800" b="1" dirty="0">
                <a:latin typeface="Arial Black" panose="020B0A04020102020204" pitchFamily="34" charset="0"/>
              </a:rPr>
              <a:t>Gemini AI Used For Images</a:t>
            </a:r>
            <a:endParaRPr lang="en-IN" sz="2800" b="1" dirty="0">
              <a:latin typeface="Arial Black" panose="020B0A04020102020204" pitchFamily="34" charset="0"/>
            </a:endParaRPr>
          </a:p>
        </p:txBody>
      </p:sp>
      <p:sp>
        <p:nvSpPr>
          <p:cNvPr id="20" name="TextBox 19">
            <a:extLst>
              <a:ext uri="{FF2B5EF4-FFF2-40B4-BE49-F238E27FC236}">
                <a16:creationId xmlns:a16="http://schemas.microsoft.com/office/drawing/2014/main" id="{07E5E78D-4C24-7E10-CE7A-D001773143C2}"/>
              </a:ext>
            </a:extLst>
          </p:cNvPr>
          <p:cNvSpPr txBox="1"/>
          <p:nvPr/>
        </p:nvSpPr>
        <p:spPr>
          <a:xfrm>
            <a:off x="248478" y="5154641"/>
            <a:ext cx="5943600" cy="830997"/>
          </a:xfrm>
          <a:prstGeom prst="rect">
            <a:avLst/>
          </a:prstGeom>
          <a:noFill/>
        </p:spPr>
        <p:txBody>
          <a:bodyPr wrap="square">
            <a:spAutoFit/>
          </a:bodyPr>
          <a:lstStyle/>
          <a:p>
            <a:pPr marL="342900" indent="-342900">
              <a:buFont typeface="Wingdings" panose="05000000000000000000" pitchFamily="2" charset="2"/>
              <a:buChar char="ü"/>
            </a:pPr>
            <a:r>
              <a:rPr lang="en-US" sz="2400" b="1" dirty="0">
                <a:latin typeface="Arial Black" panose="020B0A04020102020204" pitchFamily="34" charset="0"/>
              </a:rPr>
              <a:t>Chat </a:t>
            </a:r>
            <a:r>
              <a:rPr lang="en-US" sz="2400" b="1" dirty="0" err="1">
                <a:latin typeface="Arial Black" panose="020B0A04020102020204" pitchFamily="34" charset="0"/>
              </a:rPr>
              <a:t>Gpt</a:t>
            </a:r>
            <a:r>
              <a:rPr lang="en-US" sz="2400" b="1" dirty="0">
                <a:latin typeface="Arial Black" panose="020B0A04020102020204" pitchFamily="34" charset="0"/>
              </a:rPr>
              <a:t> Used For Information Of Share Marketing</a:t>
            </a:r>
            <a:endParaRPr lang="en-IN" sz="2400" b="1" dirty="0">
              <a:latin typeface="Arial Black" panose="020B0A04020102020204" pitchFamily="34" charset="0"/>
            </a:endParaRPr>
          </a:p>
        </p:txBody>
      </p:sp>
      <p:pic>
        <p:nvPicPr>
          <p:cNvPr id="22" name="Picture 21" descr="A black background with white text and a heart&#10;&#10;AI-generated content may be incorrect.">
            <a:extLst>
              <a:ext uri="{FF2B5EF4-FFF2-40B4-BE49-F238E27FC236}">
                <a16:creationId xmlns:a16="http://schemas.microsoft.com/office/drawing/2014/main" id="{70E4A824-9AF8-875B-1EF1-3D23AD1F3BA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788966" y="4534360"/>
            <a:ext cx="4154556" cy="226860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4" name="TextBox 23">
            <a:extLst>
              <a:ext uri="{FF2B5EF4-FFF2-40B4-BE49-F238E27FC236}">
                <a16:creationId xmlns:a16="http://schemas.microsoft.com/office/drawing/2014/main" id="{A5DDB9B9-04D9-AF82-32E9-5ED55BCBA69F}"/>
              </a:ext>
            </a:extLst>
          </p:cNvPr>
          <p:cNvSpPr txBox="1"/>
          <p:nvPr/>
        </p:nvSpPr>
        <p:spPr>
          <a:xfrm>
            <a:off x="248478" y="5971969"/>
            <a:ext cx="5943600" cy="830997"/>
          </a:xfrm>
          <a:prstGeom prst="rect">
            <a:avLst/>
          </a:prstGeom>
          <a:noFill/>
        </p:spPr>
        <p:txBody>
          <a:bodyPr wrap="square">
            <a:spAutoFit/>
          </a:bodyPr>
          <a:lstStyle/>
          <a:p>
            <a:pPr marL="342900" indent="-342900">
              <a:buFont typeface="Wingdings" panose="05000000000000000000" pitchFamily="2" charset="2"/>
              <a:buChar char="ü"/>
            </a:pPr>
            <a:r>
              <a:rPr lang="en-US" sz="2400" b="1" dirty="0">
                <a:latin typeface="Arial Black" panose="020B0A04020102020204" pitchFamily="34" charset="0"/>
              </a:rPr>
              <a:t>Love AI Used For Desing The Share Marketing Application</a:t>
            </a:r>
            <a:endParaRPr lang="en-IN" sz="2400" b="1" dirty="0">
              <a:latin typeface="Arial Black" panose="020B0A04020102020204" pitchFamily="34" charset="0"/>
            </a:endParaRPr>
          </a:p>
        </p:txBody>
      </p:sp>
    </p:spTree>
    <p:extLst>
      <p:ext uri="{BB962C8B-B14F-4D97-AF65-F5344CB8AC3E}">
        <p14:creationId xmlns:p14="http://schemas.microsoft.com/office/powerpoint/2010/main" val="292917008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DEE423F-634E-7B1F-126E-82C5E403283A}"/>
              </a:ext>
            </a:extLst>
          </p:cNvPr>
          <p:cNvSpPr txBox="1"/>
          <p:nvPr/>
        </p:nvSpPr>
        <p:spPr>
          <a:xfrm>
            <a:off x="1908313" y="185970"/>
            <a:ext cx="7176052" cy="3877985"/>
          </a:xfrm>
          <a:prstGeom prst="rect">
            <a:avLst/>
          </a:prstGeom>
          <a:noFill/>
        </p:spPr>
        <p:txBody>
          <a:bodyPr wrap="square">
            <a:spAutoFit/>
          </a:bodyPr>
          <a:lstStyle/>
          <a:p>
            <a:r>
              <a:rPr lang="en-US" sz="2400" dirty="0">
                <a:latin typeface="Algerian" panose="04020705040A02060702" pitchFamily="82" charset="0"/>
              </a:rPr>
              <a:t>📌 Key Points of Share Marketing</a:t>
            </a:r>
          </a:p>
          <a:p>
            <a:endParaRPr lang="en-US" sz="2400" dirty="0">
              <a:latin typeface="Algerian" panose="04020705040A02060702" pitchFamily="82" charset="0"/>
            </a:endParaRPr>
          </a:p>
          <a:p>
            <a:r>
              <a:rPr lang="en-US" dirty="0"/>
              <a:t>- </a:t>
            </a:r>
            <a:r>
              <a:rPr lang="en-US" b="1" dirty="0">
                <a:latin typeface="Arial Black" panose="020B0A04020102020204" pitchFamily="34" charset="0"/>
              </a:rPr>
              <a:t>Ownership: Buying shares makes you a partial owner of a company.</a:t>
            </a:r>
          </a:p>
          <a:p>
            <a:r>
              <a:rPr lang="en-US" b="1" dirty="0">
                <a:latin typeface="Arial Black" panose="020B0A04020102020204" pitchFamily="34" charset="0"/>
              </a:rPr>
              <a:t>- Returns: Investors earn through capital gains and dividends.</a:t>
            </a:r>
          </a:p>
          <a:p>
            <a:r>
              <a:rPr lang="en-US" b="1" dirty="0">
                <a:latin typeface="Arial Black" panose="020B0A04020102020204" pitchFamily="34" charset="0"/>
              </a:rPr>
              <a:t>- Liquidity: Shares can be quickly bought or sold on stock exchanges.</a:t>
            </a:r>
          </a:p>
          <a:p>
            <a:r>
              <a:rPr lang="en-US" b="1" dirty="0">
                <a:latin typeface="Arial Black" panose="020B0A04020102020204" pitchFamily="34" charset="0"/>
              </a:rPr>
              <a:t>- Market Forces: Prices fluctuate based on company performance, economic indicators, and investor sentiment.</a:t>
            </a:r>
          </a:p>
          <a:p>
            <a:r>
              <a:rPr lang="en-US" b="1" dirty="0">
                <a:latin typeface="Arial Black" panose="020B0A04020102020204" pitchFamily="34" charset="0"/>
              </a:rPr>
              <a:t>- Regulated Platforms: Trading occurs on exchanges like NSE and BSE in India.</a:t>
            </a:r>
          </a:p>
        </p:txBody>
      </p:sp>
      <p:pic>
        <p:nvPicPr>
          <p:cNvPr id="7" name="Picture 6">
            <a:extLst>
              <a:ext uri="{FF2B5EF4-FFF2-40B4-BE49-F238E27FC236}">
                <a16:creationId xmlns:a16="http://schemas.microsoft.com/office/drawing/2014/main" id="{4DB18476-F547-6392-4A45-B0647BBB89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574" y="0"/>
            <a:ext cx="1699591" cy="1699591"/>
          </a:xfrm>
          <a:prstGeom prst="rect">
            <a:avLst/>
          </a:prstGeom>
        </p:spPr>
      </p:pic>
      <p:sp>
        <p:nvSpPr>
          <p:cNvPr id="9" name="TextBox 8">
            <a:extLst>
              <a:ext uri="{FF2B5EF4-FFF2-40B4-BE49-F238E27FC236}">
                <a16:creationId xmlns:a16="http://schemas.microsoft.com/office/drawing/2014/main" id="{F666E071-04BF-9F48-4587-50478A91A9BA}"/>
              </a:ext>
            </a:extLst>
          </p:cNvPr>
          <p:cNvSpPr txBox="1"/>
          <p:nvPr/>
        </p:nvSpPr>
        <p:spPr>
          <a:xfrm>
            <a:off x="1908313" y="4086707"/>
            <a:ext cx="6102626" cy="2585323"/>
          </a:xfrm>
          <a:prstGeom prst="rect">
            <a:avLst/>
          </a:prstGeom>
          <a:noFill/>
        </p:spPr>
        <p:txBody>
          <a:bodyPr wrap="square">
            <a:spAutoFit/>
          </a:bodyPr>
          <a:lstStyle/>
          <a:p>
            <a:pPr>
              <a:buFont typeface="Arial" panose="020B0604020202020204" pitchFamily="34" charset="0"/>
              <a:buChar char="•"/>
            </a:pPr>
            <a:r>
              <a:rPr lang="en-US" b="1" dirty="0">
                <a:latin typeface="Arial Black" panose="020B0A04020102020204" pitchFamily="34" charset="0"/>
              </a:rPr>
              <a:t>Volatility remains high due to global economic shifts and geopolitical tensions.</a:t>
            </a:r>
          </a:p>
          <a:p>
            <a:pPr>
              <a:buNone/>
            </a:pPr>
            <a:r>
              <a:rPr lang="en-US" b="1" dirty="0">
                <a:latin typeface="Arial Black" panose="020B0A04020102020204" pitchFamily="34" charset="0"/>
              </a:rPr>
              <a:t>🔮 Market Predictions (2025 Outlook)</a:t>
            </a:r>
          </a:p>
          <a:p>
            <a:pPr>
              <a:buFont typeface="Arial" panose="020B0604020202020204" pitchFamily="34" charset="0"/>
              <a:buChar char="•"/>
            </a:pPr>
            <a:r>
              <a:rPr lang="en-US" b="1" dirty="0">
                <a:latin typeface="Arial Black" panose="020B0A04020102020204" pitchFamily="34" charset="0"/>
              </a:rPr>
              <a:t>Tech and healthcare sectors show mixed signals—some areas booming, others slowing down.</a:t>
            </a:r>
          </a:p>
          <a:p>
            <a:pPr>
              <a:buFont typeface="Arial" panose="020B0604020202020204" pitchFamily="34" charset="0"/>
              <a:buChar char="•"/>
            </a:pPr>
            <a:r>
              <a:rPr lang="en-US" b="1" dirty="0">
                <a:latin typeface="Arial Black" panose="020B0A04020102020204" pitchFamily="34" charset="0"/>
              </a:rPr>
              <a:t>Data-driven forecasting is gaining traction, using AI and scenario modeling to guide investment decisions.</a:t>
            </a:r>
          </a:p>
        </p:txBody>
      </p:sp>
      <p:pic>
        <p:nvPicPr>
          <p:cNvPr id="11" name="Picture 10" descr="A group of people standing in a room&#10;&#10;AI-generated content may be incorrect.">
            <a:extLst>
              <a:ext uri="{FF2B5EF4-FFF2-40B4-BE49-F238E27FC236}">
                <a16:creationId xmlns:a16="http://schemas.microsoft.com/office/drawing/2014/main" id="{225AE74B-4B0B-A1E4-6AD8-274C5475BE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84365" y="496957"/>
            <a:ext cx="2817744" cy="6034226"/>
          </a:xfrm>
          <a:prstGeom prst="rect">
            <a:avLst/>
          </a:prstGeom>
        </p:spPr>
      </p:pic>
      <p:pic>
        <p:nvPicPr>
          <p:cNvPr id="3" name="Picture 2" descr="A graph of stock market&#10;&#10;AI-generated content may be incorrect.">
            <a:extLst>
              <a:ext uri="{FF2B5EF4-FFF2-40B4-BE49-F238E27FC236}">
                <a16:creationId xmlns:a16="http://schemas.microsoft.com/office/drawing/2014/main" id="{871A6046-DA40-362A-7A51-57E0A50416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0694" y="3429000"/>
            <a:ext cx="8708666" cy="334739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906760321"/>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logo for a company&#10;&#10;AI-generated content may be incorrect.">
            <a:extLst>
              <a:ext uri="{FF2B5EF4-FFF2-40B4-BE49-F238E27FC236}">
                <a16:creationId xmlns:a16="http://schemas.microsoft.com/office/drawing/2014/main" id="{9064BF7E-93AD-683E-9A7D-543A6C4E76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698895" cy="1698895"/>
          </a:xfrm>
          <a:prstGeom prst="rect">
            <a:avLst/>
          </a:prstGeom>
        </p:spPr>
      </p:pic>
      <p:sp>
        <p:nvSpPr>
          <p:cNvPr id="5" name="TextBox 4">
            <a:extLst>
              <a:ext uri="{FF2B5EF4-FFF2-40B4-BE49-F238E27FC236}">
                <a16:creationId xmlns:a16="http://schemas.microsoft.com/office/drawing/2014/main" id="{C1BC63C9-8A80-4C22-9049-63EACF7A0CF0}"/>
              </a:ext>
            </a:extLst>
          </p:cNvPr>
          <p:cNvSpPr txBox="1"/>
          <p:nvPr/>
        </p:nvSpPr>
        <p:spPr>
          <a:xfrm>
            <a:off x="-6626" y="1712775"/>
            <a:ext cx="6102626" cy="2893100"/>
          </a:xfrm>
          <a:prstGeom prst="rect">
            <a:avLst/>
          </a:prstGeom>
          <a:noFill/>
        </p:spPr>
        <p:txBody>
          <a:bodyPr wrap="square">
            <a:spAutoFit/>
          </a:bodyPr>
          <a:lstStyle/>
          <a:p>
            <a:pPr algn="ctr">
              <a:buNone/>
            </a:pPr>
            <a:r>
              <a:rPr lang="en-US" sz="2000" b="1" dirty="0">
                <a:solidFill>
                  <a:schemeClr val="accent5"/>
                </a:solidFill>
                <a:latin typeface="Algerian" panose="04020705040A02060702" pitchFamily="82" charset="0"/>
              </a:rPr>
              <a:t>Advantages:</a:t>
            </a:r>
          </a:p>
          <a:p>
            <a:pPr>
              <a:buNone/>
            </a:pPr>
            <a:endParaRPr lang="en-US" b="1" dirty="0"/>
          </a:p>
          <a:p>
            <a:pPr>
              <a:buFont typeface="Arial" panose="020B0604020202020204" pitchFamily="34" charset="0"/>
              <a:buChar char="•"/>
            </a:pPr>
            <a:r>
              <a:rPr lang="en-US" sz="1600" b="1" dirty="0">
                <a:latin typeface="Arial Black" panose="020B0A04020102020204" pitchFamily="34" charset="0"/>
              </a:rPr>
              <a:t>Lower CAC:</a:t>
            </a:r>
            <a:r>
              <a:rPr lang="en-US" sz="1600" dirty="0">
                <a:latin typeface="Arial Black" panose="020B0A04020102020204" pitchFamily="34" charset="0"/>
              </a:rPr>
              <a:t> Significantly reduces customer acquisition costs compared to traditional advertising.</a:t>
            </a:r>
          </a:p>
          <a:p>
            <a:pPr>
              <a:buFont typeface="Arial" panose="020B0604020202020204" pitchFamily="34" charset="0"/>
              <a:buChar char="•"/>
            </a:pPr>
            <a:r>
              <a:rPr lang="en-US" sz="1600" b="1" dirty="0">
                <a:latin typeface="Arial Black" panose="020B0A04020102020204" pitchFamily="34" charset="0"/>
              </a:rPr>
              <a:t>Higher LTV &amp; Retention:</a:t>
            </a:r>
            <a:r>
              <a:rPr lang="en-US" sz="1600" dirty="0">
                <a:latin typeface="Arial Black" panose="020B0A04020102020204" pitchFamily="34" charset="0"/>
              </a:rPr>
              <a:t> Referred customers tend to be more loyal, spend more, and stay longer.</a:t>
            </a:r>
          </a:p>
          <a:p>
            <a:pPr>
              <a:buFont typeface="Arial" panose="020B0604020202020204" pitchFamily="34" charset="0"/>
              <a:buChar char="•"/>
            </a:pPr>
            <a:r>
              <a:rPr lang="en-US" sz="1600" b="1" dirty="0">
                <a:latin typeface="Arial Black" panose="020B0A04020102020204" pitchFamily="34" charset="0"/>
              </a:rPr>
              <a:t>Quality Leads:</a:t>
            </a:r>
            <a:r>
              <a:rPr lang="en-US" sz="1600" dirty="0">
                <a:latin typeface="Arial Black" panose="020B0A04020102020204" pitchFamily="34" charset="0"/>
              </a:rPr>
              <a:t> Generates highly qualified leads who are already predisposed to trust the brand.</a:t>
            </a:r>
          </a:p>
          <a:p>
            <a:pPr>
              <a:buFont typeface="Arial" panose="020B0604020202020204" pitchFamily="34" charset="0"/>
              <a:buChar char="•"/>
            </a:pPr>
            <a:r>
              <a:rPr lang="en-US" sz="1600" b="1" dirty="0">
                <a:latin typeface="Arial Black" panose="020B0A04020102020204" pitchFamily="34" charset="0"/>
              </a:rPr>
              <a:t>Authentic Advocacy:</a:t>
            </a:r>
            <a:r>
              <a:rPr lang="en-US" sz="1600" dirty="0">
                <a:latin typeface="Arial Black" panose="020B0A04020102020204" pitchFamily="34" charset="0"/>
              </a:rPr>
              <a:t> Turns satisfied customers into genuine brand evangelists.</a:t>
            </a:r>
          </a:p>
        </p:txBody>
      </p:sp>
      <p:sp>
        <p:nvSpPr>
          <p:cNvPr id="7" name="TextBox 6">
            <a:extLst>
              <a:ext uri="{FF2B5EF4-FFF2-40B4-BE49-F238E27FC236}">
                <a16:creationId xmlns:a16="http://schemas.microsoft.com/office/drawing/2014/main" id="{3F8E9BB5-08C6-C973-B407-228EB89AA5BC}"/>
              </a:ext>
            </a:extLst>
          </p:cNvPr>
          <p:cNvSpPr txBox="1"/>
          <p:nvPr/>
        </p:nvSpPr>
        <p:spPr>
          <a:xfrm>
            <a:off x="6096000" y="1633324"/>
            <a:ext cx="5811078" cy="3662541"/>
          </a:xfrm>
          <a:prstGeom prst="rect">
            <a:avLst/>
          </a:prstGeom>
          <a:noFill/>
        </p:spPr>
        <p:txBody>
          <a:bodyPr wrap="square">
            <a:spAutoFit/>
          </a:bodyPr>
          <a:lstStyle/>
          <a:p>
            <a:pPr algn="ctr">
              <a:buNone/>
            </a:pPr>
            <a:r>
              <a:rPr lang="en-US" sz="2000" b="1" dirty="0">
                <a:solidFill>
                  <a:schemeClr val="accent5"/>
                </a:solidFill>
                <a:latin typeface="Algerian" panose="04020705040A02060702" pitchFamily="82" charset="0"/>
              </a:rPr>
              <a:t>Disadvantages:</a:t>
            </a:r>
          </a:p>
          <a:p>
            <a:pPr>
              <a:buNone/>
            </a:pPr>
            <a:endParaRPr lang="en-US" b="1" dirty="0"/>
          </a:p>
          <a:p>
            <a:pPr>
              <a:buFont typeface="Arial" panose="020B0604020202020204" pitchFamily="34" charset="0"/>
              <a:buChar char="•"/>
            </a:pPr>
            <a:r>
              <a:rPr lang="en-US" sz="1600" b="1" dirty="0">
                <a:latin typeface="Arial Black" panose="020B0A04020102020204" pitchFamily="34" charset="0"/>
              </a:rPr>
              <a:t>Requires Strong Product/Service:</a:t>
            </a:r>
            <a:r>
              <a:rPr lang="en-US" sz="1600" dirty="0">
                <a:latin typeface="Arial Black" panose="020B0A04020102020204" pitchFamily="34" charset="0"/>
              </a:rPr>
              <a:t> Only works well if customers are genuinely happy and willing to recommend.</a:t>
            </a:r>
          </a:p>
          <a:p>
            <a:pPr>
              <a:buFont typeface="Arial" panose="020B0604020202020204" pitchFamily="34" charset="0"/>
              <a:buChar char="•"/>
            </a:pPr>
            <a:r>
              <a:rPr lang="en-US" sz="1600" b="1" dirty="0">
                <a:latin typeface="Arial Black" panose="020B0A04020102020204" pitchFamily="34" charset="0"/>
              </a:rPr>
              <a:t>Program Management:</a:t>
            </a:r>
            <a:r>
              <a:rPr lang="en-US" sz="1600" dirty="0">
                <a:latin typeface="Arial Black" panose="020B0A04020102020204" pitchFamily="34" charset="0"/>
              </a:rPr>
              <a:t> Needs careful planning, tracking, and management of incentives to be effective.</a:t>
            </a:r>
          </a:p>
          <a:p>
            <a:pPr>
              <a:buFont typeface="Arial" panose="020B0604020202020204" pitchFamily="34" charset="0"/>
              <a:buChar char="•"/>
            </a:pPr>
            <a:r>
              <a:rPr lang="en-US" sz="1600" b="1" dirty="0">
                <a:latin typeface="Arial Black" panose="020B0A04020102020204" pitchFamily="34" charset="0"/>
              </a:rPr>
              <a:t>Potential for Abuse:</a:t>
            </a:r>
            <a:r>
              <a:rPr lang="en-US" sz="1600" dirty="0">
                <a:latin typeface="Arial Black" panose="020B0A04020102020204" pitchFamily="34" charset="0"/>
              </a:rPr>
              <a:t> Risk of "gaming" the system if not properly designed (e.g., fraudulent referrals).</a:t>
            </a:r>
          </a:p>
          <a:p>
            <a:pPr>
              <a:buFont typeface="Arial" panose="020B0604020202020204" pitchFamily="34" charset="0"/>
              <a:buChar char="•"/>
            </a:pPr>
            <a:r>
              <a:rPr lang="en-US" sz="1600" b="1" dirty="0">
                <a:latin typeface="Arial Black" panose="020B0A04020102020204" pitchFamily="34" charset="0"/>
              </a:rPr>
              <a:t>Limited Scale (Initially):</a:t>
            </a:r>
            <a:r>
              <a:rPr lang="en-US" sz="1600" dirty="0">
                <a:latin typeface="Arial Black" panose="020B0A04020102020204" pitchFamily="34" charset="0"/>
              </a:rPr>
              <a:t> May take time to scale significantly compared to paid advertising campaigns</a:t>
            </a:r>
            <a:r>
              <a:rPr lang="en-US" sz="1600" dirty="0"/>
              <a:t>.</a:t>
            </a:r>
          </a:p>
        </p:txBody>
      </p:sp>
      <p:sp>
        <p:nvSpPr>
          <p:cNvPr id="9" name="TextBox 8">
            <a:extLst>
              <a:ext uri="{FF2B5EF4-FFF2-40B4-BE49-F238E27FC236}">
                <a16:creationId xmlns:a16="http://schemas.microsoft.com/office/drawing/2014/main" id="{D316F937-1BD1-8E30-E861-0E2582643540}"/>
              </a:ext>
            </a:extLst>
          </p:cNvPr>
          <p:cNvSpPr txBox="1"/>
          <p:nvPr/>
        </p:nvSpPr>
        <p:spPr>
          <a:xfrm>
            <a:off x="284922" y="5295865"/>
            <a:ext cx="10028584" cy="1497461"/>
          </a:xfrm>
          <a:prstGeom prst="rect">
            <a:avLst/>
          </a:prstGeom>
          <a:noFill/>
        </p:spPr>
        <p:txBody>
          <a:bodyPr wrap="square">
            <a:spAutoFit/>
          </a:bodyPr>
          <a:lstStyle/>
          <a:p>
            <a:pPr marL="342900" indent="-342900">
              <a:lnSpc>
                <a:spcPct val="107000"/>
              </a:lnSpc>
              <a:spcAft>
                <a:spcPts val="800"/>
              </a:spcAft>
              <a:buFont typeface="Wingdings" panose="05000000000000000000" pitchFamily="2" charset="2"/>
              <a:buChar char="v"/>
            </a:pPr>
            <a:r>
              <a:rPr lang="en-IN" sz="2000" b="1" kern="100" dirty="0">
                <a:solidFill>
                  <a:schemeClr val="accent5"/>
                </a:solidFill>
                <a:latin typeface="Algerian" panose="04020705040A02060702" pitchFamily="82" charset="0"/>
                <a:ea typeface="Calibri" panose="020F0502020204030204" pitchFamily="34" charset="0"/>
                <a:cs typeface="Cordia New" panose="020B0304020202020204" pitchFamily="34" charset="-34"/>
              </a:rPr>
              <a:t>Solution Of Share Marketing And Prediction:</a:t>
            </a:r>
          </a:p>
          <a:p>
            <a:pPr>
              <a:lnSpc>
                <a:spcPct val="107000"/>
              </a:lnSpc>
              <a:spcAft>
                <a:spcPts val="800"/>
              </a:spcAft>
              <a:buNone/>
            </a:pPr>
            <a:r>
              <a:rPr lang="en-IN" sz="2000" b="1" kern="100" dirty="0">
                <a:effectLst/>
                <a:latin typeface="Arial Black" panose="020B0A04020102020204" pitchFamily="34" charset="0"/>
                <a:ea typeface="Calibri" panose="020F0502020204030204" pitchFamily="34" charset="0"/>
                <a:cs typeface="Cordia New" panose="020B0304020202020204" pitchFamily="34" charset="-34"/>
              </a:rPr>
              <a:t>“Yes, solving the problems in share marketing and prediction is highly important because accurate forecasting is crucial for economic stability, efficient capital allocation, and maximizing investor profits”</a:t>
            </a:r>
            <a:endParaRPr lang="en-IN" sz="2000" kern="100" dirty="0">
              <a:effectLst/>
              <a:latin typeface="Arial Black" panose="020B0A04020102020204" pitchFamily="34" charset="0"/>
              <a:ea typeface="Calibri" panose="020F0502020204030204" pitchFamily="34" charset="0"/>
              <a:cs typeface="Cordia New" panose="020B0304020202020204" pitchFamily="34" charset="-34"/>
            </a:endParaRPr>
          </a:p>
        </p:txBody>
      </p:sp>
      <p:pic>
        <p:nvPicPr>
          <p:cNvPr id="11" name="Picture 10" descr="A diagram of a data processing process&#10;&#10;AI-generated content may be incorrect.">
            <a:extLst>
              <a:ext uri="{FF2B5EF4-FFF2-40B4-BE49-F238E27FC236}">
                <a16:creationId xmlns:a16="http://schemas.microsoft.com/office/drawing/2014/main" id="{024AFC18-AF40-41C3-ADD5-7C644333310D}"/>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0" y="1712775"/>
            <a:ext cx="11907078" cy="3583090"/>
          </a:xfrm>
          <a:prstGeom prst="rect">
            <a:avLst/>
          </a:prstGeom>
        </p:spPr>
      </p:pic>
      <p:sp>
        <p:nvSpPr>
          <p:cNvPr id="6" name="Title 5">
            <a:extLst>
              <a:ext uri="{FF2B5EF4-FFF2-40B4-BE49-F238E27FC236}">
                <a16:creationId xmlns:a16="http://schemas.microsoft.com/office/drawing/2014/main" id="{70826A36-E602-977C-F83D-6B843CFB02C0}"/>
              </a:ext>
            </a:extLst>
          </p:cNvPr>
          <p:cNvSpPr>
            <a:spLocks noGrp="1"/>
          </p:cNvSpPr>
          <p:nvPr>
            <p:ph type="title"/>
          </p:nvPr>
        </p:nvSpPr>
        <p:spPr>
          <a:xfrm>
            <a:off x="1716838" y="135863"/>
            <a:ext cx="8596668" cy="1320800"/>
          </a:xfrm>
        </p:spPr>
        <p:txBody>
          <a:bodyPr/>
          <a:lstStyle/>
          <a:p>
            <a:r>
              <a:rPr lang="en-US" b="1" dirty="0">
                <a:solidFill>
                  <a:srgbClr val="FF0000"/>
                </a:solidFill>
                <a:latin typeface="Algerian" panose="04020705040A02060702" pitchFamily="82" charset="0"/>
              </a:rPr>
              <a:t>Collection Of Data Flow chart:</a:t>
            </a:r>
            <a:endParaRPr lang="en-IN" b="1" dirty="0">
              <a:solidFill>
                <a:srgbClr val="FF0000"/>
              </a:solidFill>
              <a:latin typeface="Algerian" panose="04020705040A02060702" pitchFamily="82" charset="0"/>
            </a:endParaRPr>
          </a:p>
        </p:txBody>
      </p:sp>
    </p:spTree>
    <p:extLst>
      <p:ext uri="{BB962C8B-B14F-4D97-AF65-F5344CB8AC3E}">
        <p14:creationId xmlns:p14="http://schemas.microsoft.com/office/powerpoint/2010/main" val="790380881"/>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3EF23-7EB7-EC99-5BC4-70BBA52BA375}"/>
              </a:ext>
            </a:extLst>
          </p:cNvPr>
          <p:cNvSpPr>
            <a:spLocks noGrp="1"/>
          </p:cNvSpPr>
          <p:nvPr>
            <p:ph type="title"/>
          </p:nvPr>
        </p:nvSpPr>
        <p:spPr>
          <a:xfrm>
            <a:off x="1005326" y="1309908"/>
            <a:ext cx="8596668" cy="974034"/>
          </a:xfrm>
        </p:spPr>
        <p:txBody>
          <a:bodyPr>
            <a:normAutofit/>
          </a:bodyPr>
          <a:lstStyle/>
          <a:p>
            <a:pPr algn="ctr"/>
            <a:r>
              <a:rPr lang="en-US" sz="5400" dirty="0">
                <a:latin typeface="Algerian" panose="04020705040A02060702" pitchFamily="82" charset="0"/>
              </a:rPr>
              <a:t>Thankyou…….</a:t>
            </a:r>
            <a:endParaRPr lang="en-IN" sz="5400" dirty="0">
              <a:latin typeface="Algerian" panose="04020705040A02060702" pitchFamily="82" charset="0"/>
            </a:endParaRPr>
          </a:p>
        </p:txBody>
      </p:sp>
      <p:sp>
        <p:nvSpPr>
          <p:cNvPr id="3" name="Text Placeholder 2">
            <a:extLst>
              <a:ext uri="{FF2B5EF4-FFF2-40B4-BE49-F238E27FC236}">
                <a16:creationId xmlns:a16="http://schemas.microsoft.com/office/drawing/2014/main" id="{4AFA211A-3333-5D4C-7564-9BE58AE35F4D}"/>
              </a:ext>
            </a:extLst>
          </p:cNvPr>
          <p:cNvSpPr>
            <a:spLocks noGrp="1"/>
          </p:cNvSpPr>
          <p:nvPr>
            <p:ph type="body" idx="1"/>
          </p:nvPr>
        </p:nvSpPr>
        <p:spPr>
          <a:xfrm>
            <a:off x="3426367" y="3811831"/>
            <a:ext cx="8596668" cy="2628726"/>
          </a:xfrm>
        </p:spPr>
        <p:txBody>
          <a:bodyPr>
            <a:normAutofit fontScale="92500" lnSpcReduction="10000"/>
          </a:bodyPr>
          <a:lstStyle/>
          <a:p>
            <a:r>
              <a:rPr lang="en-US" sz="2800" b="1" dirty="0">
                <a:solidFill>
                  <a:schemeClr val="accent5"/>
                </a:solidFill>
                <a:latin typeface="Algerian" panose="04020705040A02060702" pitchFamily="82" charset="0"/>
              </a:rPr>
              <a:t>“The Best Marketing Doesn’t Feel Like Marketing.”   </a:t>
            </a:r>
          </a:p>
          <a:p>
            <a:r>
              <a:rPr lang="en-US" sz="2000" b="1" dirty="0">
                <a:solidFill>
                  <a:schemeClr val="accent5"/>
                </a:solidFill>
                <a:latin typeface="Algerian" panose="04020705040A02060702" pitchFamily="82" charset="0"/>
              </a:rPr>
              <a:t>                                             </a:t>
            </a:r>
            <a:r>
              <a:rPr lang="en-US" sz="2000" b="1" dirty="0">
                <a:solidFill>
                  <a:schemeClr val="tx1"/>
                </a:solidFill>
                <a:latin typeface="Agency FB" panose="020B0503020202020204" pitchFamily="34" charset="0"/>
              </a:rPr>
              <a:t>-----</a:t>
            </a:r>
            <a:r>
              <a:rPr lang="en-US" sz="2000" b="1" dirty="0">
                <a:solidFill>
                  <a:schemeClr val="tx1"/>
                </a:solidFill>
                <a:latin typeface="Algerian" panose="04020705040A02060702" pitchFamily="82" charset="0"/>
              </a:rPr>
              <a:t>Tom </a:t>
            </a:r>
            <a:r>
              <a:rPr lang="en-US" sz="2000" b="1" dirty="0" err="1">
                <a:solidFill>
                  <a:schemeClr val="tx1"/>
                </a:solidFill>
                <a:latin typeface="Algerian" panose="04020705040A02060702" pitchFamily="82" charset="0"/>
              </a:rPr>
              <a:t>FishburnE</a:t>
            </a:r>
            <a:endParaRPr lang="en-US" sz="2000" b="1" dirty="0">
              <a:solidFill>
                <a:schemeClr val="tx1"/>
              </a:solidFill>
              <a:latin typeface="Algerian" panose="04020705040A02060702" pitchFamily="82" charset="0"/>
            </a:endParaRPr>
          </a:p>
          <a:p>
            <a:r>
              <a:rPr lang="en-US" sz="2000" b="1" dirty="0">
                <a:solidFill>
                  <a:schemeClr val="accent5"/>
                </a:solidFill>
                <a:latin typeface="Algerian" panose="04020705040A02060702" pitchFamily="82" charset="0"/>
              </a:rPr>
              <a:t>      </a:t>
            </a:r>
          </a:p>
          <a:p>
            <a:pPr algn="ctr"/>
            <a:endParaRPr lang="en-US" sz="2000" b="1" dirty="0">
              <a:solidFill>
                <a:schemeClr val="accent5"/>
              </a:solidFill>
              <a:latin typeface="Algerian" panose="04020705040A02060702" pitchFamily="82" charset="0"/>
            </a:endParaRPr>
          </a:p>
          <a:p>
            <a:pPr algn="ctr"/>
            <a:r>
              <a:rPr lang="en-US" sz="4000" b="1" dirty="0">
                <a:solidFill>
                  <a:srgbClr val="00B050"/>
                </a:solidFill>
                <a:latin typeface="Algerian" panose="04020705040A02060702" pitchFamily="82" charset="0"/>
              </a:rPr>
              <a:t>Our Team hype………</a:t>
            </a:r>
            <a:endParaRPr lang="en-IN" sz="4000" b="1" dirty="0">
              <a:solidFill>
                <a:srgbClr val="00B050"/>
              </a:solidFill>
              <a:latin typeface="Algerian" panose="04020705040A02060702" pitchFamily="82" charset="0"/>
            </a:endParaRPr>
          </a:p>
        </p:txBody>
      </p:sp>
      <p:pic>
        <p:nvPicPr>
          <p:cNvPr id="5" name="Picture 4" descr="A logo for a company&#10;&#10;AI-generated content may be incorrect.">
            <a:extLst>
              <a:ext uri="{FF2B5EF4-FFF2-40B4-BE49-F238E27FC236}">
                <a16:creationId xmlns:a16="http://schemas.microsoft.com/office/drawing/2014/main" id="{6731F66A-AF0F-82CD-DAE0-A6BD41BAB8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91" y="0"/>
            <a:ext cx="2325757" cy="1796925"/>
          </a:xfrm>
          <a:prstGeom prst="rect">
            <a:avLst/>
          </a:prstGeom>
        </p:spPr>
      </p:pic>
    </p:spTree>
    <p:extLst>
      <p:ext uri="{BB962C8B-B14F-4D97-AF65-F5344CB8AC3E}">
        <p14:creationId xmlns:p14="http://schemas.microsoft.com/office/powerpoint/2010/main" val="18184155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175</TotalTime>
  <Words>580</Words>
  <Application>Microsoft Office PowerPoint</Application>
  <PresentationFormat>Widescreen</PresentationFormat>
  <Paragraphs>50</Paragraphs>
  <Slides>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vt:i4>
      </vt:variant>
    </vt:vector>
  </HeadingPairs>
  <TitlesOfParts>
    <vt:vector size="18" baseType="lpstr">
      <vt:lpstr>Agency FB</vt:lpstr>
      <vt:lpstr>Algerian</vt:lpstr>
      <vt:lpstr>Arial</vt:lpstr>
      <vt:lpstr>Arial Black</vt:lpstr>
      <vt:lpstr>Arial Rounded MT Bold</vt:lpstr>
      <vt:lpstr>Calibri</vt:lpstr>
      <vt:lpstr>Trebuchet MS</vt:lpstr>
      <vt:lpstr>Wingdings</vt:lpstr>
      <vt:lpstr>Wingdings 3</vt:lpstr>
      <vt:lpstr>Facet</vt:lpstr>
      <vt:lpstr>INTRODUCTION</vt:lpstr>
      <vt:lpstr>Share Marketing And Predictions</vt:lpstr>
      <vt:lpstr>ISSUE OF SHAREMARKETING AND PREDICTIONS: </vt:lpstr>
      <vt:lpstr>What is Problem Of Sharemarketing And Predictions?</vt:lpstr>
      <vt:lpstr>PowerPoint Presentation</vt:lpstr>
      <vt:lpstr>PowerPoint Presentation</vt:lpstr>
      <vt:lpstr>Collection Of Data Flow chart:</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poornaroyal9@gmail.com</dc:creator>
  <cp:lastModifiedBy>poornaroyal9@gmail.com</cp:lastModifiedBy>
  <cp:revision>2</cp:revision>
  <dcterms:created xsi:type="dcterms:W3CDTF">2025-10-17T13:52:06Z</dcterms:created>
  <dcterms:modified xsi:type="dcterms:W3CDTF">2025-10-18T06:14:53Z</dcterms:modified>
</cp:coreProperties>
</file>